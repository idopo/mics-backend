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1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4A6B"/>
          </a:solidFill>
          <a:ln w="12700">
            <a:solidFill>
              <a:srgbClr val="0D4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PRODUCT BRIEF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28600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MICS 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640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Milestone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6160" y="10972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ToolKit + FDA</a:t>
            </a:r>
            <a:pPr indent="0" marL="0">
              <a:buNone/>
            </a:pP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Redesign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3566160" y="2651760"/>
            <a:ext cx="5029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743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D8EA"/>
                </a:solidFill>
              </a:rPr>
              <a:t>&amp; Pi Code Editor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3337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B8D0"/>
                </a:solidFill>
              </a:rPr>
              <a:t>A no-code visual editor for behavioral task state machines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B8D0"/>
                </a:solidFill>
              </a:rPr>
              <a:t>and a browser-based Pi development environment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4709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March 2026  ·  v1 Planning Complete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B5C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What slows researchers down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02920" cy="502920"/>
          </a:xfrm>
          <a:prstGeom prst="ellipse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Python required to change task logic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356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Any change to a behavioral state machine (add a state, adjust an action) requires editing Python code on the Pi.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502920" cy="502920"/>
          </a:xfrm>
          <a:prstGeom prst="ellipse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313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Pi restarts to deploy changes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6243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After every edit, the entire pilot process must be restarted — disrupting running experiments and losing session state.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502920" cy="502920"/>
          </a:xfrm>
          <a:prstGeom prst="ellipse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502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No visual representation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8130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State machine flows exist only as Python class code. Researchers cannot see or understand task structure without reading code.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1051560"/>
            <a:ext cx="3566160" cy="3566160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IMPACT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1572768"/>
            <a:ext cx="301752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1691640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Days lost per protocol iteration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2194560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Developer bottleneck for every tweak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0" y="2697480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Researchers cannot self-serve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3200400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Experiment reproducibility suffers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0" y="3703320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Pi downtime during deployments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457200"/>
            <a:ext cx="1280160" cy="256032"/>
          </a:xfrm>
          <a:prstGeom prst="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4617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CORE VALUE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Researchers can define, modify,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and deploy behavioral task logic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286000" y="2377440"/>
            <a:ext cx="4572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</a:rPr>
              <a:t>without writing Python or restarting the Pi.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2331720" cy="109728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246120"/>
            <a:ext cx="23317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No-Code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3657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Visual drag-and-drop state machine editor in the browser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3246120"/>
            <a:ext cx="2331720" cy="109728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3246120"/>
            <a:ext cx="23317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Hot-Reload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93008" y="3657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Push updated task logic to a running Pi via ZMQ — no restart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3246120"/>
            <a:ext cx="2331720" cy="109728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3246120"/>
            <a:ext cx="23317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Self-Service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44768" y="3657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Researchers iterate on protocols without developer help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B5C"/>
                </a:solidFill>
              </a:rPr>
              <a:t>What We're Building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Two features, 8 phases, fully sequenced dependencies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</a:rPr>
              <a:t>Feature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ToolKit + FDA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Redesign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Phases 1 –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3474720" cy="0"/>
          </a:xfrm>
          <a:prstGeom prst="line">
            <a:avLst/>
          </a:prstGeom>
          <a:noFill/>
          <a:ln w="12700">
            <a:solidFill>
              <a:srgbClr val="1A5C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74320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15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5"/>
                </a:solidFill>
              </a:rPr>
              <a:t>JSON-driven state machine on 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15468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5"/>
                </a:solidFill>
              </a:rPr>
              <a:t>Semantic hardware abstraction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5661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38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5"/>
                </a:solidFill>
              </a:rPr>
              <a:t>REST API for task definitions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97764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5"/>
                </a:solidFill>
              </a:rPr>
              <a:t>Visual drag-and-drop FDA editor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438912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61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5"/>
                </a:solidFill>
              </a:rPr>
              <a:t>Protocol step → task definition link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097280"/>
            <a:ext cx="39319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</a:rPr>
              <a:t>Feature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1508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 Code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Editor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74920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E6CF"/>
                </a:solidFill>
              </a:rPr>
              <a:t>Phases 5 – 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4920" y="2606040"/>
            <a:ext cx="3474720" cy="0"/>
          </a:xfrm>
          <a:prstGeom prst="line">
            <a:avLst/>
          </a:prstGeom>
          <a:noFill/>
          <a:ln w="12700">
            <a:solidFill>
              <a:srgbClr val="2A5C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74920" y="274320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715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0"/>
                </a:solidFill>
              </a:rPr>
              <a:t>Read-only file browser via SSH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315468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0"/>
                </a:solidFill>
              </a:rPr>
              <a:t>Monaco editor with syntax highlighting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74920" y="35661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3538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0"/>
                </a:solidFill>
              </a:rPr>
              <a:t>Live terminal (xterm.js WebSocket)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74920" y="397764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0"/>
                </a:solidFill>
              </a:rPr>
              <a:t>Edit files &amp; restart pilot in-browser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74920" y="438912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4361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0"/>
                </a:solidFill>
              </a:rPr>
              <a:t>Package management UI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CBE5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Feature 2 (Phase 5) is independent — can be developed in parallel with Feature 1 from day one.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B5C"/>
                </a:solidFill>
              </a:rPr>
              <a:t>Feature 1: ToolKit + FDA Redesign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Four sequential phases building from Pi foundation to full visual editor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1920240"/>
          </a:xfrm>
          <a:prstGeom prst="rect">
            <a:avLst/>
          </a:prstGeom>
          <a:solidFill>
            <a:srgbClr val="FAFCFF"/>
          </a:solidFill>
          <a:ln w="12700">
            <a:solidFill>
              <a:srgbClr val="CBE5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" cy="1920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143000"/>
            <a:ext cx="64008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1430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07008" y="11521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Pi Foundation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141732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FDA-01–14 · TRIG-01–05 · HOT-02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4632" y="16184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Pi loads complete FDA state machine from JSON. No Python edits needed for state logic, hardware actions, or trigger callbacks.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" y="2148840"/>
            <a:ext cx="3749040" cy="0"/>
          </a:xfrm>
          <a:prstGeom prst="line">
            <a:avLst/>
          </a:prstGeom>
          <a:noFill/>
          <a:ln w="6350">
            <a:solidFill>
              <a:srgbClr val="CBE5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2219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Deliverables: load_fda_from_json() in mics_task · SEMANTIC_HARDWARE dict · entry_actions executed per state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" y="24231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validate_fda.py CLI tool · Trigger assignments from JSON · deploy_pi.sh script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4114800" cy="1920240"/>
          </a:xfrm>
          <a:prstGeom prst="rect">
            <a:avLst/>
          </a:prstGeom>
          <a:solidFill>
            <a:srgbClr val="FAFCFF"/>
          </a:solidFill>
          <a:ln w="12700">
            <a:solidFill>
              <a:srgbClr val="CBE5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63240"/>
            <a:ext cx="64008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3154680"/>
            <a:ext cx="640080" cy="2377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1546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02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07008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DB +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" y="342900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DB-01–08 · VAR-01–05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632" y="36301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Toolkit metadata auto-captured from Pi HANDSHAKE. Task definitions stored in DB. REST API supports CRUD + hot-reload push.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" y="4160520"/>
            <a:ext cx="3749040" cy="0"/>
          </a:xfrm>
          <a:prstGeom prst="line">
            <a:avLst/>
          </a:prstGeom>
          <a:noFill/>
          <a:ln w="6350">
            <a:solidFill>
              <a:srgbClr val="CBE5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42336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Deliverables: task_toolkits table (auto-populated) · task_definitions with fda_json · 7 new REST endpoints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" y="44348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Push-to-pilot (UPDATE_FDA ZMQ) · Variant tracking per hw config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1051560"/>
            <a:ext cx="4114800" cy="1920240"/>
          </a:xfrm>
          <a:prstGeom prst="rect">
            <a:avLst/>
          </a:prstGeom>
          <a:solidFill>
            <a:srgbClr val="FAFCFF"/>
          </a:solidFill>
          <a:ln w="12700">
            <a:solidFill>
              <a:srgbClr val="CBE5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51560"/>
            <a:ext cx="64008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19472" y="1143000"/>
            <a:ext cx="640080" cy="23774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1430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03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41848" y="11521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Visual FDA Editor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19472" y="141732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UI-01–10 · VAR-06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19472" y="16184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Researchers build and modify state machines visually in the browser. No Python. Push changes to running Pi instantly.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19472" y="2148840"/>
            <a:ext cx="3749040" cy="0"/>
          </a:xfrm>
          <a:prstGeom prst="line">
            <a:avLst/>
          </a:prstGeom>
          <a:noFill/>
          <a:ln w="6350">
            <a:solidFill>
              <a:srgbClr val="CBE5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2219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Deliverables: react-flow canvas (nodes + edges) · State body editor panel · Condition builder for transitions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19472" y="24231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 assignment panel · Push to Pilot button (hot-reload) · Save serializes to FDA JSON v2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063240"/>
            <a:ext cx="4114800" cy="1920240"/>
          </a:xfrm>
          <a:prstGeom prst="rect">
            <a:avLst/>
          </a:prstGeom>
          <a:solidFill>
            <a:srgbClr val="FAFCFF"/>
          </a:solidFill>
          <a:ln w="12700">
            <a:solidFill>
              <a:srgbClr val="CBE5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063240"/>
            <a:ext cx="64008" cy="1920240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9472" y="3154680"/>
            <a:ext cx="640080" cy="237744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1546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04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41848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Protocol Integration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19472" y="342900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3B5C"/>
                </a:solidFill>
              </a:rPr>
              <a:t>PROTO-01–03 · VAR-07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19472" y="36301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Protocol steps reference named task definitions. FDA JSON flows end-to-end from DB to Pi on every session start.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19472" y="4160520"/>
            <a:ext cx="3749040" cy="0"/>
          </a:xfrm>
          <a:prstGeom prst="line">
            <a:avLst/>
          </a:prstGeom>
          <a:noFill/>
          <a:ln w="6350">
            <a:solidFill>
              <a:srgbClr val="CBE5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42336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Deliverables: Protocol builder shows task definitions · Session start injects fda_json · GET /api/tasks/leaf deprecated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19472" y="44348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Canonical variant enforcement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453128" y="1993392"/>
            <a:ext cx="0" cy="457200"/>
          </a:xfrm>
          <a:prstGeom prst="line">
            <a:avLst/>
          </a:prstGeom>
          <a:noFill/>
          <a:ln w="19050">
            <a:solidFill>
              <a:srgbClr val="CBE5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1596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E5F3"/>
                </a:solidFill>
              </a:rPr>
              <a:t>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453128" y="4005072"/>
            <a:ext cx="0" cy="457200"/>
          </a:xfrm>
          <a:prstGeom prst="line">
            <a:avLst/>
          </a:prstGeom>
          <a:noFill/>
          <a:ln w="19050">
            <a:solidFill>
              <a:srgbClr val="CBE5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15968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E5F3"/>
                </a:solidFill>
              </a:rPr>
              <a:t>↓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274320"/>
            <a:ext cx="2016252" cy="256032"/>
          </a:xfrm>
          <a:prstGeom prst="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278892"/>
            <a:ext cx="2016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3 SPOTLIGHT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Visual FDA Editor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C39A"/>
                </a:solidFill>
              </a:rPr>
              <a:t>The moment researchers become self-sufficient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2560320" cy="283464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691640"/>
            <a:ext cx="256032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react-flow Canvas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88920"/>
            <a:ext cx="2011680" cy="0"/>
          </a:xfrm>
          <a:prstGeom prst="line">
            <a:avLst/>
          </a:prstGeom>
          <a:noFill/>
          <a:ln w="12700">
            <a:solidFill>
              <a:srgbClr val="1A5C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80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States as draggable nodes, transitions as directed edges. Drag between handles to create connections.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4251960"/>
            <a:ext cx="1920240" cy="201168"/>
          </a:xfrm>
          <a:prstGeom prst="rect">
            <a:avLst/>
          </a:prstGeom>
          <a:solidFill>
            <a:srgbClr val="143D50"/>
          </a:solidFill>
          <a:ln w="12700">
            <a:solidFill>
              <a:srgbClr val="1A5C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51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UI-01, UI-02, UI-03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18688" y="1691640"/>
            <a:ext cx="2560320" cy="283464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691640"/>
            <a:ext cx="256032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355848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State Body Editor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93008" y="2788920"/>
            <a:ext cx="2011680" cy="0"/>
          </a:xfrm>
          <a:prstGeom prst="line">
            <a:avLst/>
          </a:prstGeom>
          <a:noFill/>
          <a:ln w="12700">
            <a:solidFill>
              <a:srgbClr val="1A5C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2880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Right panel opens on node click. Edit entry actions (hardware / flag / timer / special / method), set blocking mode, manage return data keys. Passthrough states show a {py} badge and are read-only.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38728" y="4251960"/>
            <a:ext cx="1920240" cy="201168"/>
          </a:xfrm>
          <a:prstGeom prst="rect">
            <a:avLst/>
          </a:prstGeom>
          <a:solidFill>
            <a:srgbClr val="143D50"/>
          </a:solidFill>
          <a:ln w="12700">
            <a:solidFill>
              <a:srgbClr val="1A5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8728" y="4251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UI-04, UI-05, UI-05a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25896" y="1691640"/>
            <a:ext cx="2560320" cy="283464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25896" y="1691640"/>
            <a:ext cx="256032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25896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163056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Push to Pilot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0216" y="2788920"/>
            <a:ext cx="2011680" cy="0"/>
          </a:xfrm>
          <a:prstGeom prst="line">
            <a:avLst/>
          </a:prstGeom>
          <a:noFill/>
          <a:ln w="12700">
            <a:solidFill>
              <a:srgbClr val="1A5C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2880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One button hot-reloads updated state logic to a running Pi over ZMQ — no restart, changes take effect on next state entry.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45936" y="4251960"/>
            <a:ext cx="1920240" cy="201168"/>
          </a:xfrm>
          <a:prstGeom prst="rect">
            <a:avLst/>
          </a:prstGeom>
          <a:solidFill>
            <a:srgbClr val="143D50"/>
          </a:solidFill>
          <a:ln w="12700">
            <a:solidFill>
              <a:srgbClr val="1A5C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4251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UI-09, HOT-01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2A"/>
                </a:solidFill>
              </a:rPr>
              <a:t>Feature 2: Pi Code Editor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Four phases — from read-only viewer to full remote developer environment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011680" cy="594360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111556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9970"/>
                </a:solidFill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Viewer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64008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29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9970"/>
                </a:solidFill>
              </a:rPr>
              <a:t>Read-only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Browse Pi task files in the browser via SSH. Monaco editor with Python syntax highlighting. No exec risk — safe to deploy immediately.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703320"/>
            <a:ext cx="1828800" cy="0"/>
          </a:xfrm>
          <a:prstGeom prst="line">
            <a:avLst/>
          </a:prstGeom>
          <a:noFill/>
          <a:ln w="6350">
            <a:solidFill>
              <a:srgbClr val="C8E6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9970"/>
                </a:solidFill>
              </a:rPr>
              <a:t>EDIT-01–06 · Independent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87168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87168" y="1051560"/>
            <a:ext cx="2011680" cy="5943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8608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04488" y="111556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04488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</a:rPr>
              <a:t>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78608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Terminal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78608" y="2029968"/>
            <a:ext cx="64008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2029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8B57"/>
                </a:solidFill>
              </a:rPr>
              <a:t>Developer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78608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Live terminal using xterm.js. Stream command output via WebSocket. Gated behind ALLOW_PI_EXEC=true env var.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78608" y="3703320"/>
            <a:ext cx="1828800" cy="0"/>
          </a:xfrm>
          <a:prstGeom prst="line">
            <a:avLst/>
          </a:prstGeom>
          <a:noFill/>
          <a:ln w="6350">
            <a:solidFill>
              <a:srgbClr val="C8E6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9970"/>
                </a:solidFill>
              </a:rPr>
              <a:t>EDIT-07–10 · Requires Phase 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54296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54296" y="1051560"/>
            <a:ext cx="201168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5736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71616" y="111556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71616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C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45736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Edit + Restart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45736" y="2029968"/>
            <a:ext cx="64008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2029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</a:rPr>
              <a:t>Developer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45736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Edit Pi Python files in-browser. Write via SFTP. Restart pilot process. Dirty indicator, beforeunload guard.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45736" y="3703320"/>
            <a:ext cx="1828800" cy="0"/>
          </a:xfrm>
          <a:prstGeom prst="line">
            <a:avLst/>
          </a:prstGeom>
          <a:noFill/>
          <a:ln w="6350">
            <a:solidFill>
              <a:srgbClr val="C8E6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9970"/>
                </a:solidFill>
              </a:rPr>
              <a:t>EDIT-11–14 · Requires Phase 6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21424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21424" y="1051560"/>
            <a:ext cx="201168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12864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8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38744" y="111556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38744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449"/>
                </a:solidFill>
              </a:rPr>
              <a:t>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12864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Sync + Packages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912864" y="2029968"/>
            <a:ext cx="64008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12864" y="2029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Advanced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12864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Sync code mirror to Pi. Package management UI cross-references toolkit required_packages. Install via pip.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12864" y="3703320"/>
            <a:ext cx="1828800" cy="0"/>
          </a:xfrm>
          <a:prstGeom prst="line">
            <a:avLst/>
          </a:prstGeom>
          <a:noFill/>
          <a:ln w="6350">
            <a:solidFill>
              <a:srgbClr val="C8E6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12864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9970"/>
                </a:solidFill>
              </a:rPr>
              <a:t>EDIT-15–17 · Requires Phase 7 + 2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33172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E5F3"/>
                </a:solidFill>
              </a:rPr>
              <a:t>→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9884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E5F3"/>
                </a:solidFill>
              </a:rPr>
              <a:t>→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65976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E5F3"/>
                </a:solidFill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B5C"/>
                </a:solidFill>
              </a:rPr>
              <a:t>Milestone 1 — Full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8 phases · 56 requirements · Two parallel tracks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371600" cy="256032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FDA TRACK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3291840"/>
            <a:ext cx="1371600" cy="2560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PI EDITOR TRACK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65960" y="960120"/>
            <a:ext cx="1554480" cy="2148840"/>
          </a:xfrm>
          <a:prstGeom prst="rect">
            <a:avLst/>
          </a:prstGeom>
          <a:solidFill>
            <a:srgbClr val="F0F7FC"/>
          </a:solidFill>
          <a:ln w="12700">
            <a:solidFill>
              <a:srgbClr val="CBE5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960120"/>
            <a:ext cx="1554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005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Foundation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5740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</a:rPr>
              <a:t>FDA+TRIG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</a:rPr>
              <a:t>24 reqs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47872" y="1874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E5F3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21608" y="960120"/>
            <a:ext cx="1554480" cy="2148840"/>
          </a:xfrm>
          <a:prstGeom prst="rect">
            <a:avLst/>
          </a:prstGeom>
          <a:solidFill>
            <a:srgbClr val="F0F7FC"/>
          </a:solidFill>
          <a:ln w="12700">
            <a:solidFill>
              <a:srgbClr val="CBE5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21608" y="960120"/>
            <a:ext cx="155448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1608" y="1005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21608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DB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3048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DB+VAR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13 reqs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0" y="1874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E5F3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77256" y="960120"/>
            <a:ext cx="1554480" cy="2148840"/>
          </a:xfrm>
          <a:prstGeom prst="rect">
            <a:avLst/>
          </a:prstGeom>
          <a:solidFill>
            <a:srgbClr val="F0F7FC"/>
          </a:solidFill>
          <a:ln w="12700">
            <a:solidFill>
              <a:srgbClr val="CBE5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77256" y="960120"/>
            <a:ext cx="15544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7256" y="1005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77256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Editor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68696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UI+VAR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11 reqs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59168" y="1874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E5F3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32904" y="960120"/>
            <a:ext cx="1554480" cy="2148840"/>
          </a:xfrm>
          <a:prstGeom prst="rect">
            <a:avLst/>
          </a:prstGeom>
          <a:solidFill>
            <a:srgbClr val="F0F7FC"/>
          </a:solidFill>
          <a:ln w="12700">
            <a:solidFill>
              <a:srgbClr val="CBE5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32904" y="960120"/>
            <a:ext cx="1554480" cy="502920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32904" y="1005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32904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Protocol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24344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3B5C"/>
                </a:solidFill>
              </a:rPr>
              <a:t>PROTO+VAR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A3B5C"/>
                </a:solidFill>
              </a:rPr>
              <a:t>4 reqs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65960" y="3154680"/>
            <a:ext cx="0" cy="320040"/>
          </a:xfrm>
          <a:prstGeom prst="line">
            <a:avLst/>
          </a:prstGeom>
          <a:noFill/>
          <a:ln w="12700">
            <a:solidFill>
              <a:srgbClr val="A0C8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83080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9970"/>
                </a:solidFill>
              </a:rPr>
              <a:t>Phase 5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D9970"/>
                </a:solidFill>
              </a:rPr>
              <a:t>independent →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965960" y="3246120"/>
            <a:ext cx="1554480" cy="1645920"/>
          </a:xfrm>
          <a:prstGeom prst="rect">
            <a:avLst/>
          </a:prstGeom>
          <a:solidFill>
            <a:srgbClr val="F0FFF4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65960" y="3246120"/>
            <a:ext cx="1554480" cy="411480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65960" y="3273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65960" y="3447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Viewer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0574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9970"/>
                </a:solidFill>
              </a:rPr>
              <a:t>EDIT-01–06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47872" y="3931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E6D0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721608" y="3246120"/>
            <a:ext cx="1554480" cy="1645920"/>
          </a:xfrm>
          <a:prstGeom prst="rect">
            <a:avLst/>
          </a:prstGeom>
          <a:solidFill>
            <a:srgbClr val="F0FFF4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21608" y="3246120"/>
            <a:ext cx="1554480" cy="4114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21608" y="3273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21608" y="3447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Terminal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13048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8B57"/>
                </a:solidFill>
              </a:rPr>
              <a:t>EDIT-07–10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03520" y="3931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E6D0"/>
                </a:solidFill>
              </a:rPr>
              <a:t>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477256" y="3246120"/>
            <a:ext cx="1554480" cy="1645920"/>
          </a:xfrm>
          <a:prstGeom prst="rect">
            <a:avLst/>
          </a:prstGeom>
          <a:solidFill>
            <a:srgbClr val="F0FFF4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77256" y="3246120"/>
            <a:ext cx="155448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77256" y="3273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77256" y="3447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Edit+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Restart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68696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EDIT-11–14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059168" y="3931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E6D0"/>
                </a:solidFill>
              </a:rPr>
              <a:t>→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232904" y="3246120"/>
            <a:ext cx="1554480" cy="1645920"/>
          </a:xfrm>
          <a:prstGeom prst="rect">
            <a:avLst/>
          </a:prstGeom>
          <a:solidFill>
            <a:srgbClr val="F0FFF4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32904" y="3246120"/>
            <a:ext cx="1554480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32904" y="3273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32904" y="3447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Sync+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Packages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24344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8449"/>
                </a:solidFill>
              </a:rPr>
              <a:t>EDIT-15–17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538728" y="2331720"/>
            <a:ext cx="5449824" cy="1097280"/>
          </a:xfrm>
          <a:prstGeom prst="line">
            <a:avLst/>
          </a:prstGeom>
          <a:noFill/>
          <a:ln w="12700">
            <a:solidFill>
              <a:srgbClr val="DDEA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0" y="4754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Phase 8 also depends on Phase 2 (required_packages)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B5C"/>
                </a:solidFill>
              </a:rPr>
              <a:t>Current Status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2354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23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Project defined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1790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Requirements documented (56 v1)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1226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12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057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Roadmap complete (8 phases)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2651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Phase 1 plans created (6 plans)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92354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923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30368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Phase 2 plans created (4 plans)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517904"/>
            <a:ext cx="292608" cy="292608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0368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Phase 1 execution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112264"/>
            <a:ext cx="292608" cy="292608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12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30368" y="2057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Phase 2 execution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706624"/>
            <a:ext cx="292608" cy="292608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30368" y="2651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Phase 3–8 execution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8229600" cy="0"/>
          </a:xfrm>
          <a:prstGeom prst="line">
            <a:avLst/>
          </a:prstGeom>
          <a:noFill/>
          <a:ln w="12700">
            <a:solidFill>
              <a:srgbClr val="CBE5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474720"/>
            <a:ext cx="3931920" cy="1417320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584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</a:rPr>
              <a:t>READY TO START NOW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3858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1: Pi Foundation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No blockers · All dependencies met · Plans approved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474720"/>
            <a:ext cx="3931920" cy="141732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37760" y="3584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</a:rPr>
              <a:t>ALSO READY (PARALLEL)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3858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5: Pi Editor (Viewer)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37760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</a:rPr>
              <a:t>Independent · Read-only · Safe to deploy immediately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</a:rPr>
              <a:t>M1 Goal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Researchers build, modify, and deploy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behavioral experiments without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writing a single line of code.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286000" y="2971800"/>
            <a:ext cx="4572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00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</a:rPr>
              <a:t>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Phases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3200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</a:rPr>
              <a:t>56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69748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Requirements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3200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1772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Parallel Tracks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53796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Blockers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663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MICS Backend  ·  March 2026  ·  Milestone 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te Body Editor Detail">
    <p:bg>
      <p:bgPr>
        <a:solidFill>
          <a:srgbClr val="0A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green bar -->
      <p:sp>
        <p:nvSpPr>
          <p:cNvPr id="100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!-- Bottom teal bar -->
      <p:sp>
        <p:nvSpPr>
          <p:cNvPr id="101" name="BottomBar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!-- Badge background -->
      <p:sp>
        <p:nvSpPr>
          <p:cNvPr id="102" name="BadgeBg"/>
          <p:cNvSpPr/>
          <p:nvPr/>
        </p:nvSpPr>
        <p:spPr>
          <a:xfrm>
            <a:off x="3200400" y="274320"/>
            <a:ext cx="2016252" cy="256032"/>
          </a:xfrm>
          <a:prstGeom prst="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!-- Badge text -->
      <p:sp>
        <p:nvSpPr>
          <p:cNvPr id="103" name="BadgeText"/>
          <p:cNvSpPr/>
          <p:nvPr/>
        </p:nvSpPr>
        <p:spPr>
          <a:xfrm>
            <a:off x="3200400" y="278892"/>
            <a:ext cx="2016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3 SPOTLIGHT</a:t>
            </a:r>
          </a:p>
        </p:txBody>
      </p:sp>
      <!-- Slide title -->
      <p:sp>
        <p:nvSpPr>
          <p:cNvPr id="104" name="SlideTitle"/>
          <p:cNvSpPr/>
          <p:nvPr/>
        </p:nvSpPr>
        <p:spPr>
          <a:xfrm>
            <a:off x="457200" y="620000"/>
            <a:ext cx="822960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State Body Editor</a:t>
            </a:r>
          </a:p>
        </p:txBody>
      </p:sp>
      <!-- Slide subtitle -->
      <p:sp>
        <p:nvSpPr>
          <p:cNvPr id="105" name="SlideSubtitle"/>
          <p:cNvSpPr/>
          <p:nvPr/>
        </p:nvSpPr>
        <p:spPr>
          <a:xfrm>
            <a:off x="457200" y="1155000"/>
            <a:ext cx="8229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</a:rPr>
              <a:t>Right panel — activated when a state node is selected · UI-04 · UI-05 · UI-05a</a:t>
            </a:r>
          </a:p>
        </p:txBody>
      </p:sp>
      <!-- ===================== LEFT PANEL MOCKUP ===================== -->
      <!-- Panel card background -->
      <p:sp>
        <p:nvSpPr>
          <p:cNvPr id="200" name="PanelCardBg"/>
          <p:cNvSpPr/>
          <p:nvPr/>
        </p:nvSpPr>
        <p:spPr>
          <a:xfrm>
            <a:off x="411480" y="1520000"/>
            <a:ext cx="3840000" cy="328000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!-- Panel card top bar -->
      <p:sp>
        <p:nvSpPr>
          <p:cNvPr id="201" name="PanelTopBar"/>
          <p:cNvSpPr/>
          <p:nvPr/>
        </p:nvSpPr>
        <p:spPr>
          <a:xfrm>
            <a:off x="411480" y="1520000"/>
            <a:ext cx="3840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!-- Panel state name header -->
      <p:sp>
        <p:nvSpPr>
          <p:cNvPr id="202" name="PanelStateName"/>
          <p:cNvSpPr/>
          <p:nvPr/>
        </p:nvSpPr>
        <p:spPr>
          <a:xfrm>
            <a:off x="548640" y="1620000"/>
            <a:ext cx="356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State: </a:t>
            </a:r>
            <a:r>
              <a:rPr lang="en-US" sz="1050" b="1" dirty="0">
                <a:solidFill>
                  <a:srgbClr val="02C39A"/>
                </a:solidFill>
              </a:rPr>
              <a:t>trial_onset</a:t>
            </a:r>
          </a:p>
        </p:txBody>
      </p:sp>
      <!-- ENTRY ACTIONS label -->
      <p:sp>
        <p:nvSpPr>
          <p:cNvPr id="203" name="EntryActionsLabel"/>
          <p:cNvSpPr/>
          <p:nvPr/>
        </p:nvSpPr>
        <p:spPr>
          <a:xfrm>
            <a:off x="548640" y="1890000"/>
            <a:ext cx="35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8D8EA"/>
                </a:solidFill>
              </a:rPr>
              <a:t>ENTRY ACTIONS</a:t>
            </a:r>
            <a:r>
              <a:rPr lang="en-US" sz="800" dirty="0">
                <a:solidFill>
                  <a:srgbClr val="1C7293"/>
                </a:solidFill>
              </a:rPr>
              <a:t xml:space="preserve">                              [+ Add]</a:t>
            </a:r>
          </a:p>
        </p:txBody>
      </p:sp>
      <!-- Divider line 1 -->
      <p:sp>
        <p:nvSpPr>
          <p:cNvPr id="204" name="Div1"/>
          <p:cNvSpPr/>
          <p:nvPr/>
        </p:nvSpPr>
        <p:spPr>
          <a:xfrm>
            <a:off x="548640" y="2130000"/>
            <a:ext cx="3560000" cy="0"/>
          </a:xfrm>
          <a:prstGeom prst="line">
            <a:avLst/>
          </a:prstGeom>
          <a:noFill/>
          <a:ln w="9525">
            <a:solidFill>
              <a:srgbClr val="1A5C7C"/>
            </a:solidFill>
            <a:prstDash val="solid"/>
          </a:ln>
        </p:spPr>
      </p:sp>
      <!-- Action row 1: hardware -->
      <p:sp>
        <p:nvSpPr>
          <p:cNvPr id="205" name="ActionRow1"/>
          <p:cNvSpPr/>
          <p:nvPr/>
        </p:nvSpPr>
        <p:spPr>
          <a:xfrm>
            <a:off x="548640" y="2160000"/>
            <a:ext cx="35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[hw]  </a:t>
            </a:r>
            <a:r>
              <a:rPr lang="en-US" sz="800" dirty="0">
                <a:solidFill>
                  <a:srgbClr val="FFFFFF"/>
                </a:solidFill>
              </a:rPr>
              <a:t>reward_port  →  pulse( open_duration )</a:t>
            </a:r>
            <a:r>
              <a:rPr lang="en-US" sz="800" dirty="0">
                <a:solidFill>
                  <a:srgbClr val="1A5C7C"/>
                </a:solidFill>
              </a:rPr>
              <a:t xml:space="preserve">   ↑↓  ✕</a:t>
            </a:r>
          </a:p>
        </p:txBody>
      </p:sp>
      <!-- Action row 2: flag -->
      <p:sp>
        <p:nvSpPr>
          <p:cNvPr id="206" name="ActionRow2"/>
          <p:cNvSpPr/>
          <p:nvPr/>
        </p:nvSpPr>
        <p:spPr>
          <a:xfrm>
            <a:off x="548640" y="2390000"/>
            <a:ext cx="35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[fl]  </a:t>
            </a:r>
            <a:r>
              <a:rPr lang="en-US" sz="800" dirty="0">
                <a:solidFill>
                  <a:srgbClr val="FFFFFF"/>
                </a:solidFill>
              </a:rPr>
              <a:t>hit_trial  →  set( false )</a:t>
            </a:r>
            <a:r>
              <a:rPr lang="en-US" sz="800" dirty="0">
                <a:solidFill>
                  <a:srgbClr val="1A5C7C"/>
                </a:solidFill>
              </a:rPr>
              <a:t xml:space="preserve">   ↑↓  ✕</a:t>
            </a:r>
          </a:p>
        </p:txBody>
      </p:sp>
      <!-- Action row 3: special -->
      <p:sp>
        <p:nvSpPr>
          <p:cNvPr id="207" name="ActionRow3"/>
          <p:cNvSpPr/>
          <p:nvPr/>
        </p:nvSpPr>
        <p:spPr>
          <a:xfrm>
            <a:off x="548640" y="2620000"/>
            <a:ext cx="35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[sp]  </a:t>
            </a:r>
            <a:r>
              <a:rPr lang="en-US" sz="800" dirty="0">
                <a:solidFill>
                  <a:srgbClr val="FFFFFF"/>
                </a:solidFill>
              </a:rPr>
              <a:t>INC_TRIAL_COUNTER</a:t>
            </a:r>
            <a:r>
              <a:rPr lang="en-US" sz="800" dirty="0">
                <a:solidFill>
                  <a:srgbClr val="1A5C7C"/>
                </a:solidFill>
              </a:rPr>
              <a:t xml:space="preserve">   ↑↓  ✕</a:t>
            </a:r>
          </a:p>
        </p:txBody>
      </p:sp>
      <!-- Divider line 2 -->
      <p:sp>
        <p:nvSpPr>
          <p:cNvPr id="208" name="Div2"/>
          <p:cNvSpPr/>
          <p:nvPr/>
        </p:nvSpPr>
        <p:spPr>
          <a:xfrm>
            <a:off x="548640" y="2860000"/>
            <a:ext cx="3560000" cy="0"/>
          </a:xfrm>
          <a:prstGeom prst="line">
            <a:avLst/>
          </a:prstGeom>
          <a:noFill/>
          <a:ln w="9525">
            <a:solidFill>
              <a:srgbClr val="1A5C7C"/>
            </a:solidFill>
            <a:prstDash val="solid"/>
          </a:ln>
        </p:spPr>
      </p:sp>
      <!-- BLOCKING section -->
      <p:sp>
        <p:nvSpPr>
          <p:cNvPr id="209" name="BlockingSection"/>
          <p:cNvSpPr/>
          <p:nvPr/>
        </p:nvSpPr>
        <p:spPr>
          <a:xfrm>
            <a:off x="548640" y="2890000"/>
            <a:ext cx="356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8D8EA"/>
                </a:solidFill>
              </a:rPr>
              <a:t>BLOCKING</a:t>
            </a:r>
          </a:p>
          <a:p>
            <a:pPr algn="l" indent="0" marL="0">
              <a:buNone/>
            </a:pPr>
            <a:r>
              <a:rPr lang="en-US" sz="800" dirty="0">
                <a:solidFill>
                  <a:srgbClr val="1A5C7C"/>
                </a:solidFill>
              </a:rPr>
              <a:t>○ None  </a:t>
            </a:r>
            <a:r>
              <a:rPr lang="en-US" sz="800" b="1" dirty="0">
                <a:solidFill>
                  <a:srgbClr val="02C39A"/>
                </a:solidFill>
              </a:rPr>
              <a:t>● Wait for condition</a:t>
            </a:r>
          </a:p>
        </p:txBody>
      </p:sp>
      <!-- Divider line 3 -->
      <p:sp>
        <p:nvSpPr>
          <p:cNvPr id="210" name="Div3"/>
          <p:cNvSpPr/>
          <p:nvPr/>
        </p:nvSpPr>
        <p:spPr>
          <a:xfrm>
            <a:off x="548640" y="3350000"/>
            <a:ext cx="3560000" cy="0"/>
          </a:xfrm>
          <a:prstGeom prst="line">
            <a:avLst/>
          </a:prstGeom>
          <a:noFill/>
          <a:ln w="9525">
            <a:solidFill>
              <a:srgbClr val="1A5C7C"/>
            </a:solidFill>
            <a:prstDash val="solid"/>
          </a:ln>
        </p:spPr>
      </p:sp>
      <!-- RETURN DATA section -->
      <p:sp>
        <p:nvSpPr>
          <p:cNvPr id="211" name="ReturnDataSection"/>
          <p:cNvSpPr/>
          <p:nvPr/>
        </p:nvSpPr>
        <p:spPr>
          <a:xfrm>
            <a:off x="548640" y="3380000"/>
            <a:ext cx="35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8D8EA"/>
                </a:solidFill>
              </a:rPr>
              <a:t>RETURN DATA</a:t>
            </a:r>
            <a:r>
              <a:rPr lang="en-US" sz="800" dirty="0">
                <a:solidFill>
                  <a:srgbClr val="1C7293"/>
                </a:solidFill>
              </a:rPr>
              <a:t xml:space="preserve">                                   [+ Add]</a:t>
            </a:r>
          </a:p>
        </p:txBody>
      </p:sp>
      <!-- Return data row 1 -->
      <p:sp>
        <p:nvSpPr>
          <p:cNvPr id="212" name="ReturnRow1"/>
          <p:cNvSpPr/>
          <p:nvPr/>
        </p:nvSpPr>
        <p:spPr>
          <a:xfrm>
            <a:off x="548640" y="3610000"/>
            <a:ext cx="35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trial_num  ←  flag: trial_counter</a:t>
            </a:r>
            <a:r>
              <a:rPr lang="en-US" sz="800" dirty="0">
                <a:solidFill>
                  <a:srgbClr val="1A5C7C"/>
                </a:solidFill>
              </a:rPr>
              <a:t xml:space="preserve">   ✕</a:t>
            </a:r>
          </a:p>
        </p:txBody>
      </p:sp>
      <!-- Return data row 2 -->
      <p:sp>
        <p:nvSpPr>
          <p:cNvPr id="213" name="ReturnRow2"/>
          <p:cNvSpPr/>
          <p:nvPr/>
        </p:nvSpPr>
        <p:spPr>
          <a:xfrm>
            <a:off x="548640" y="3840000"/>
            <a:ext cx="35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timestamp  ←  now()</a:t>
            </a:r>
            <a:r>
              <a:rPr lang="en-US" sz="800" dirty="0">
                <a:solidFill>
                  <a:srgbClr val="1A5C7C"/>
                </a:solidFill>
              </a:rPr>
              <a:t xml:space="preserve">   ✕</a:t>
            </a:r>
          </a:p>
        </p:txBody>
      </p:sp>
      <!-- Save button -->
      <p:sp>
        <p:nvSpPr>
          <p:cNvPr id="214" name="SaveBtn"/>
          <p:cNvSpPr/>
          <p:nvPr/>
        </p:nvSpPr>
        <p:spPr>
          <a:xfrm>
            <a:off x="548640" y="4130000"/>
            <a:ext cx="1600000" cy="228600"/>
          </a:xfrm>
          <a:prstGeom prst="rect">
            <a:avLst>
              <a:gd name="adj" fmla="val 10000"/>
            </a:avLst>
          </a:prstGeom>
          <a:solidFill>
            <a:srgbClr val="143D50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15" name="SaveBtnText"/>
          <p:cNvSpPr/>
          <p:nvPr/>
        </p:nvSpPr>
        <p:spPr>
          <a:xfrm>
            <a:off x="548640" y="4130000"/>
            <a:ext cx="16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Save State Body</a:t>
            </a:r>
          </a:p>
        </p:txBody>
      </p:sp>
      <!-- ===================== RIGHT CARDS ===================== -->
      <!-- Card 1: Entry Action Types (UI-04) -->
      <p:sp>
        <p:nvSpPr>
          <p:cNvPr id="220" name="Card1Bg"/>
          <p:cNvSpPr/>
          <p:nvPr/>
        </p:nvSpPr>
        <p:spPr>
          <a:xfrm>
            <a:off x="4430000" y="1520000"/>
            <a:ext cx="4295000" cy="132000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1" name="Card1TopBar"/>
          <p:cNvSpPr/>
          <p:nvPr/>
        </p:nvSpPr>
        <p:spPr>
          <a:xfrm>
            <a:off x="4430000" y="1520000"/>
            <a:ext cx="4295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2" name="Card1Title"/>
          <p:cNvSpPr/>
          <p:nvPr/>
        </p:nvSpPr>
        <p:spPr>
          <a:xfrm>
            <a:off x="4570000" y="1620000"/>
            <a:ext cx="401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Entry Action Types</a:t>
            </a:r>
          </a:p>
        </p:txBody>
      </p:sp>
      <p:sp>
        <p:nvSpPr>
          <p:cNvPr id="223" name="Card1Div"/>
          <p:cNvSpPr/>
          <p:nvPr/>
        </p:nvSpPr>
        <p:spPr>
          <a:xfrm>
            <a:off x="4570000" y="1900000"/>
            <a:ext cx="4010000" cy="0"/>
          </a:xfrm>
          <a:prstGeom prst="line">
            <a:avLst/>
          </a:prstGeom>
          <a:noFill/>
          <a:ln w="9525">
            <a:solidFill>
              <a:srgbClr val="1A5C7C"/>
            </a:solidFill>
            <a:prstDash val="solid"/>
          </a:ln>
        </p:spPr>
      </p:sp>
      <p:sp>
        <p:nvSpPr>
          <p:cNvPr id="224" name="Card1Body"/>
          <p:cNvSpPr/>
          <p:nvPr/>
        </p:nvSpPr>
        <p:spPr>
          <a:xfrm>
            <a:off x="4570000" y="1930000"/>
            <a:ext cx="401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hardware</a:t>
            </a:r>
            <a:r>
              <a:rPr lang="en-US" sz="850" dirty="0">
                <a:solidFill>
                  <a:srgbClr val="A8D8EA"/>
                </a:solidFill>
              </a:rPr>
              <a:t xml:space="preserve"> — semantic ref + method + args (literal, {param}, {flag})</a:t>
            </a:r>
          </a:p>
          <a:p>
            <a:pPr algn="l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flag</a:t>
            </a:r>
            <a:r>
              <a:rPr lang="en-US" sz="850" dirty="0">
                <a:solidFill>
                  <a:srgbClr val="A8D8EA"/>
                </a:solidFill>
              </a:rPr>
              <a:t xml:space="preserve"> — tracker name + method + optional args</a:t>
            </a:r>
          </a:p>
          <a:p>
            <a:pPr algn="l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timer</a:t>
            </a:r>
            <a:r>
              <a:rPr lang="en-US" sz="850" dirty="0">
                <a:solidFill>
                  <a:srgbClr val="A8D8EA"/>
                </a:solidFill>
              </a:rPr>
              <a:t xml:space="preserve"> — timer ref + set duration (literal or param)</a:t>
            </a:r>
          </a:p>
          <a:p>
            <a:pPr algn="l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special</a:t>
            </a:r>
            <a:r>
              <a:rPr lang="en-US" sz="850" dirty="0">
                <a:solidFill>
                  <a:srgbClr val="A8D8EA"/>
                </a:solidFill>
              </a:rPr>
              <a:t xml:space="preserve"> — INC_TRIAL_COUNTER (triggers graduation check)</a:t>
            </a:r>
          </a:p>
          <a:p>
            <a:pPr algn="l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method</a:t>
            </a:r>
            <a:r>
              <a:rPr lang="en-US" sz="850" dirty="0">
                <a:solidFill>
                  <a:srgbClr val="A8D8EA"/>
                </a:solidFill>
              </a:rPr>
              <a:t xml:space="preserve"> — callable_methods dropdown (toolkit-defined)</a:t>
            </a:r>
          </a:p>
        </p:txBody>
      </p:sp>
      <!-- Card 1 requirements tag bg -->
      <p:sp>
        <p:nvSpPr>
          <p:cNvPr id="225" name="Card1ReqBg"/>
          <p:cNvSpPr/>
          <p:nvPr/>
        </p:nvSpPr>
        <p:spPr>
          <a:xfrm>
            <a:off x="4570000" y="2750000"/>
            <a:ext cx="1920000" cy="190000"/>
          </a:xfrm>
          <a:prstGeom prst="rect">
            <a:avLst/>
          </a:prstGeom>
          <a:solidFill>
            <a:srgbClr val="143D50"/>
          </a:solidFill>
          <a:ln w="12700">
            <a:solidFill>
              <a:srgbClr val="1A5C7C"/>
            </a:solidFill>
            <a:prstDash val="solid"/>
          </a:ln>
        </p:spPr>
      </p:sp>
      <p:sp>
        <p:nvSpPr>
          <p:cNvPr id="226" name="Card1Req"/>
          <p:cNvSpPr/>
          <p:nvPr/>
        </p:nvSpPr>
        <p:spPr>
          <a:xfrm>
            <a:off x="4570000" y="2750000"/>
            <a:ext cx="192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UI-04</a:t>
            </a:r>
          </a:p>
        </p:txBody>
      </p:sp>
      <!-- Card 2: Blocking Toggle (UI-05) -->
      <p:sp>
        <p:nvSpPr>
          <p:cNvPr id="230" name="Card2Bg"/>
          <p:cNvSpPr/>
          <p:nvPr/>
        </p:nvSpPr>
        <p:spPr>
          <a:xfrm>
            <a:off x="4430000" y="2910000"/>
            <a:ext cx="4295000" cy="110000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1" name="Card2TopBar"/>
          <p:cNvSpPr/>
          <p:nvPr/>
        </p:nvSpPr>
        <p:spPr>
          <a:xfrm>
            <a:off x="4430000" y="2910000"/>
            <a:ext cx="4295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2" name="Card2Title"/>
          <p:cNvSpPr/>
          <p:nvPr/>
        </p:nvSpPr>
        <p:spPr>
          <a:xfrm>
            <a:off x="4570000" y="3010000"/>
            <a:ext cx="401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Blocking Toggle</a:t>
            </a:r>
          </a:p>
        </p:txBody>
      </p:sp>
      <p:sp>
        <p:nvSpPr>
          <p:cNvPr id="233" name="Card2Div"/>
          <p:cNvSpPr/>
          <p:nvPr/>
        </p:nvSpPr>
        <p:spPr>
          <a:xfrm>
            <a:off x="4570000" y="3290000"/>
            <a:ext cx="4010000" cy="0"/>
          </a:xfrm>
          <a:prstGeom prst="line">
            <a:avLst/>
          </a:prstGeom>
          <a:noFill/>
          <a:ln w="9525">
            <a:solidFill>
              <a:srgbClr val="1A5C7C"/>
            </a:solidFill>
            <a:prstDash val="solid"/>
          </a:ln>
        </p:spPr>
      </p:sp>
      <p:sp>
        <p:nvSpPr>
          <p:cNvPr id="234" name="Card2Body"/>
          <p:cNvSpPr/>
          <p:nvPr/>
        </p:nvSpPr>
        <p:spPr>
          <a:xfrm>
            <a:off x="4570000" y="3320000"/>
            <a:ext cx="401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8D8EA"/>
                </a:solidFill>
              </a:rPr>
              <a:t>None</a:t>
            </a:r>
            <a:r>
              <a:rPr lang="en-US" sz="850" dirty="0">
                <a:solidFill>
                  <a:srgbClr val="A8D8EA"/>
                </a:solidFill>
              </a:rPr>
              <a:t xml:space="preserve"> — state returns immediately; FDA evaluates transitions</a:t>
            </a:r>
          </a:p>
          <a:p>
            <a:pPr algn="l" indent="0" marL="0">
              <a:buNone/>
            </a:pPr>
            <a:r>
              <a:rPr lang="en-US" sz="850" b="1" dirty="0">
                <a:solidFill>
                  <a:srgbClr val="A8D8EA"/>
                </a:solidFill>
              </a:rPr>
              <a:t>Wait for condition</a:t>
            </a:r>
            <a:r>
              <a:rPr lang="en-US" sz="850" dirty="0">
                <a:solidFill>
                  <a:srgbClr val="A8D8EA"/>
                </a:solidFill>
              </a:rPr>
              <a:t xml:space="preserve"> — calls wait_for_condition() loop; execution pauses until a trigger fires</a:t>
            </a:r>
          </a:p>
        </p:txBody>
      </p:sp>
      <!-- Card 2 requirements tag -->
      <p:sp>
        <p:nvSpPr>
          <p:cNvPr id="235" name="Card2ReqBg"/>
          <p:cNvSpPr/>
          <p:nvPr/>
        </p:nvSpPr>
        <p:spPr>
          <a:xfrm>
            <a:off x="4570000" y="3830000"/>
            <a:ext cx="1920000" cy="190000"/>
          </a:xfrm>
          <a:prstGeom prst="rect">
            <a:avLst/>
          </a:prstGeom>
          <a:solidFill>
            <a:srgbClr val="143D50"/>
          </a:solidFill>
          <a:ln w="12700">
            <a:solidFill>
              <a:srgbClr val="1A5C7C"/>
            </a:solidFill>
            <a:prstDash val="solid"/>
          </a:ln>
        </p:spPr>
      </p:sp>
      <p:sp>
        <p:nvSpPr>
          <p:cNvPr id="236" name="Card2Req"/>
          <p:cNvSpPr/>
          <p:nvPr/>
        </p:nvSpPr>
        <p:spPr>
          <a:xfrm>
            <a:off x="4570000" y="3830000"/>
            <a:ext cx="192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UI-05</a:t>
            </a:r>
          </a:p>
        </p:txBody>
      </p:sp>
      <!-- Card 3: Return Data &amp; Passthrough States (UI-05a) -->
      <p:sp>
        <p:nvSpPr>
          <p:cNvPr id="240" name="Card3Bg"/>
          <p:cNvSpPr/>
          <p:nvPr/>
        </p:nvSpPr>
        <p:spPr>
          <a:xfrm>
            <a:off x="4430000" y="4080000"/>
            <a:ext cx="4295000" cy="110000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1" name="Card3TopBar"/>
          <p:cNvSpPr/>
          <p:nvPr/>
        </p:nvSpPr>
        <p:spPr>
          <a:xfrm>
            <a:off x="4430000" y="4080000"/>
            <a:ext cx="4295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2" name="Card3Title"/>
          <p:cNvSpPr/>
          <p:nvPr/>
        </p:nvSpPr>
        <p:spPr>
          <a:xfrm>
            <a:off x="4570000" y="4180000"/>
            <a:ext cx="401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 Data &amp; Passthrough States</a:t>
            </a:r>
          </a:p>
        </p:txBody>
      </p:sp>
      <p:sp>
        <p:nvSpPr>
          <p:cNvPr id="243" name="Card3Div"/>
          <p:cNvSpPr/>
          <p:nvPr/>
        </p:nvSpPr>
        <p:spPr>
          <a:xfrm>
            <a:off x="4570000" y="4460000"/>
            <a:ext cx="4010000" cy="0"/>
          </a:xfrm>
          <a:prstGeom prst="line">
            <a:avLst/>
          </a:prstGeom>
          <a:noFill/>
          <a:ln w="9525">
            <a:solidFill>
              <a:srgbClr val="1A5C7C"/>
            </a:solidFill>
            <a:prstDash val="solid"/>
          </a:ln>
        </p:spPr>
      </p:sp>
      <p:sp>
        <p:nvSpPr>
          <p:cNvPr id="244" name="Card3Body"/>
          <p:cNvSpPr/>
          <p:nvPr/>
        </p:nvSpPr>
        <p:spPr>
          <a:xfrm>
            <a:off x="4570000" y="4490000"/>
            <a:ext cx="401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8D8EA"/>
                </a:solidFill>
              </a:rPr>
              <a:t>Return data</a:t>
            </a:r>
            <a:r>
              <a:rPr lang="en-US" sz="850" dirty="0">
                <a:solidFill>
                  <a:srgbClr val="A8D8EA"/>
                </a:solidFill>
              </a:rPr>
              <a:t xml:space="preserve"> — keyed values dispatched as DATA event on state exit; sources: flag value or now() timestamp</a:t>
            </a:r>
          </a:p>
          <a:p>
            <a:pPr algn="l" indent="0" marL="0">
              <a:buNone/>
            </a:pPr>
            <a:r>
              <a:rPr lang="en-US" sz="850" b="1" dirty="0">
                <a:solidFill>
                  <a:srgbClr val="A8D8EA"/>
                </a:solidFill>
              </a:rPr>
              <a:t>Passthrough state</a:t>
            </a:r>
            <a:r>
              <a:rPr lang="en-US" sz="850" dirty="0">
                <a:solidFill>
                  <a:srgbClr val="A8D8EA"/>
                </a:solidFill>
              </a:rPr>
              <a:t xml:space="preserve"> — existing Python method used as-is (no entry_actions in JSON); shows </a:t>
            </a:r>
            <a:r>
              <a:rPr lang="en-US" sz="850" b="1" dirty="0">
                <a:solidFill>
                  <a:srgbClr val="02C39A"/>
                </a:solidFill>
              </a:rPr>
              <a:t>{py}</a:t>
            </a:r>
            <a:r>
              <a:rPr lang="en-US" sz="850" dirty="0">
                <a:solidFill>
                  <a:srgbClr val="A8D8EA"/>
                </a:solidFill>
              </a:rPr>
              <a:t xml:space="preserve"> lock badge; body panel is read-only</a:t>
            </a:r>
          </a:p>
        </p:txBody>
      </p:sp>
      <!-- Card 3 requirements tag -->
      <p:sp>
        <p:nvSpPr>
          <p:cNvPr id="245" name="Card3ReqBg"/>
          <p:cNvSpPr/>
          <p:nvPr/>
        </p:nvSpPr>
        <p:spPr>
          <a:xfrm>
            <a:off x="4570000" y="4890000"/>
            <a:ext cx="1920000" cy="190000"/>
          </a:xfrm>
          <a:prstGeom prst="rect">
            <a:avLst/>
          </a:prstGeom>
          <a:solidFill>
            <a:srgbClr val="143D50"/>
          </a:solidFill>
          <a:ln w="12700">
            <a:solidFill>
              <a:srgbClr val="1A5C7C"/>
            </a:solidFill>
            <a:prstDash val="solid"/>
          </a:ln>
        </p:spPr>
      </p:sp>
      <p:sp>
        <p:nvSpPr>
          <p:cNvPr id="246" name="Card3Req"/>
          <p:cNvSpPr/>
          <p:nvPr/>
        </p:nvSpPr>
        <p:spPr>
          <a:xfrm>
            <a:off x="4570000" y="4890000"/>
            <a:ext cx="192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UI-05a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MICS Milestone 1 — ToolKit + FDA Redesign</dc:title>
  <dc:subject>PptxGenJS Presentation</dc:subject>
  <dc:creator>MICS Team</dc:creator>
  <cp:lastModifiedBy>MICS Team</cp:lastModifiedBy>
  <cp:revision>1</cp:revision>
  <dcterms:created xsi:type="dcterms:W3CDTF">2026-03-16T10:12:49Z</dcterms:created>
  <dcterms:modified xsi:type="dcterms:W3CDTF">2026-03-16T10:12:49Z</dcterms:modified>
</cp:coreProperties>
</file>